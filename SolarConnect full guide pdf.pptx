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53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4" name="Image 0" descr="icons/solar_F59E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669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SURYA GHAR  ·  ROOFTOP SOLAR SUBSIDY PLATFORM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SolarConnect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Solar Subsidy Assistance &amp; Blockchain Transparency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58368" y="3977640"/>
            <a:ext cx="2926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India’s rooftop solar journey simple, transparent, and trackable — from cost estimate to subsidy payout.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for College Project / Hackathon Presentation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Rooftop solar subsidies are hard to navigate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6" name="Image 0" descr="icons/complaint_F59E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4917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46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Confusing Process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struggle to understand PM Surya Ghar eligibility, paperwork, and subsidy slabs.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96596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30752" y="2286000"/>
            <a:ext cx="777240" cy="7772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1" name="Image 1" descr="icons/lock_F59E0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492" y="24917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246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Transparency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85032" y="374904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where an application stands — verification, approval, or payment.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81344" y="196596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01384" y="2286000"/>
            <a:ext cx="777240" cy="7772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16" name="Image 2" descr="icons/history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124" y="24917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246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Delays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55664" y="374904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DISCOM verification and paper trails slow down approvals for weeks.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51976" y="196596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72016" y="2286000"/>
            <a:ext cx="777240" cy="777240"/>
          </a:xfrm>
          <a:prstGeom prst="ellipse">
            <a:avLst/>
          </a:prstGeom>
          <a:solidFill>
            <a:srgbClr val="14532D"/>
          </a:solidFill>
          <a:ln/>
        </p:spPr>
      </p:sp>
      <p:pic>
        <p:nvPicPr>
          <p:cNvPr id="21" name="Image 3" descr="icons/users_F59E0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756" y="24917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3246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Local Language Help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26296" y="374904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is rarely available in regional Indian languages, excluding many households.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14532D">
              <a:alpha val="65000"/>
            </a:srgbClr>
          </a:solidFill>
          <a:ln/>
        </p:spPr>
      </p:sp>
      <p:pic>
        <p:nvPicPr>
          <p:cNvPr id="4" name="Image 0" descr="icons/bolt_F59E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858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7132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the entire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subsidy journey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02920" y="448056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 guides a household from "how much will this cost me?" all the way to "subsidy received" — with an AI assistant and a transparent blockchain ledger at every step.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6344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DE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532120" y="88696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532120" y="12801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system cost, subsidy &amp; payback instantly.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2103120"/>
            <a:ext cx="6949440" cy="0"/>
          </a:xfrm>
          <a:prstGeom prst="line">
            <a:avLst/>
          </a:prstGeom>
          <a:noFill/>
          <a:ln w="12700">
            <a:solidFill>
              <a:srgbClr val="E4E2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DE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532120" y="230428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532120" y="26974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application with AI-assisted document OCR.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520440"/>
            <a:ext cx="6949440" cy="0"/>
          </a:xfrm>
          <a:prstGeom prst="line">
            <a:avLst/>
          </a:prstGeom>
          <a:noFill/>
          <a:ln w="12700">
            <a:solidFill>
              <a:srgbClr val="E4E2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3703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DE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532120" y="37216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532120" y="411480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every stage live on an immutable blockchain ledger.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4937760"/>
            <a:ext cx="6949440" cy="0"/>
          </a:xfrm>
          <a:prstGeom prst="line">
            <a:avLst/>
          </a:prstGeom>
          <a:noFill/>
          <a:ln w="12700">
            <a:solidFill>
              <a:srgbClr val="E4E2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5120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DE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532120" y="51389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532120" y="55321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&amp; track complaints; chat with a multilingual AI helper.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seamless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2B2B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pic>
        <p:nvPicPr>
          <p:cNvPr id="6" name="Image 0" descr="icons/calculator_F59E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1109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Calculator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560320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cost, subsidy &amp; savings estimate from your bill or usage.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2B2B2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9476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pic>
        <p:nvPicPr>
          <p:cNvPr id="11" name="Image 1" descr="icons/apply_F59E0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0848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91109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for Subsidy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53712" y="2560320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application form with AI document verification (OCR).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2B2B2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9476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pic>
        <p:nvPicPr>
          <p:cNvPr id="16" name="Image 2" descr="icons/blockchain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0848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91109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Tracker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11312" y="2560320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— verified, approved, installed, paid — on an immutable ledger.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730752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2B2B2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98678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pic>
        <p:nvPicPr>
          <p:cNvPr id="21" name="Image 3" descr="icons/history_F59E0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1239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9502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History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4599432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review all past &amp; active applications in one place.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730752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2B2B2B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98678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pic>
        <p:nvPicPr>
          <p:cNvPr id="26" name="Image 4" descr="icons/complaint_F59E0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12394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39502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Desk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53712" y="4599432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Raise, track and resolve grievances tied to any application.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55280" y="3730752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2B2B2B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398678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pic>
        <p:nvPicPr>
          <p:cNvPr id="31" name="Image 5" descr="icons/chatbot_F59E0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412394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39502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11312" y="4599432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Multilingual, voice-enabled assistant across 8 Indian languages.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Cost &amp; Subsidy Calculator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monthly bill or usage and get an instant, realistic estimate — no guesswork, no waiting for a vendor visit.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75234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243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 (₹) or usage (kWh)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449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system capacity (kW)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6557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region (for subsidy slab)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86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type &amp; available area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2240280"/>
            <a:ext cx="4846320" cy="3794760"/>
          </a:xfrm>
          <a:prstGeom prst="roundRect">
            <a:avLst>
              <a:gd name="adj" fmla="val 3373"/>
            </a:avLst>
          </a:prstGeom>
          <a:solidFill>
            <a:srgbClr val="0F3D2E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2532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1832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₹1,45,000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40880" y="3401568"/>
            <a:ext cx="4114800" cy="0"/>
          </a:xfrm>
          <a:prstGeom prst="line">
            <a:avLst/>
          </a:prstGeom>
          <a:noFill/>
          <a:ln w="9525">
            <a:solidFill>
              <a:srgbClr val="2A5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5112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Subsidy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418320" y="351129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₹78,000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40880" y="3895344"/>
            <a:ext cx="4114800" cy="0"/>
          </a:xfrm>
          <a:prstGeom prst="line">
            <a:avLst/>
          </a:prstGeom>
          <a:noFill/>
          <a:ln w="9525">
            <a:solidFill>
              <a:srgbClr val="2A5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0050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Subsidy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18320" y="40050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₹5,000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40880" y="4389120"/>
            <a:ext cx="4114800" cy="0"/>
          </a:xfrm>
          <a:prstGeom prst="line">
            <a:avLst/>
          </a:prstGeom>
          <a:noFill/>
          <a:ln w="9525">
            <a:solidFill>
              <a:srgbClr val="2A5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498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Contribution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18320" y="44988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₹62,000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40880" y="4882896"/>
            <a:ext cx="4114800" cy="0"/>
          </a:xfrm>
          <a:prstGeom prst="line">
            <a:avLst/>
          </a:prstGeom>
          <a:noFill/>
          <a:ln w="9525">
            <a:solidFill>
              <a:srgbClr val="2A5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49926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Savings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418320" y="499262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₹27,500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40880" y="5376672"/>
            <a:ext cx="4114800" cy="0"/>
          </a:xfrm>
          <a:prstGeom prst="line">
            <a:avLst/>
          </a:prstGeom>
          <a:noFill/>
          <a:ln w="9525">
            <a:solidFill>
              <a:srgbClr val="2A5A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5486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418320" y="5486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~2.25 yrs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Transparency Tracker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milestone of an application is written as a block — with a hash, verifier node and transaction ID — so applicants can independently verify progress.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10789920" cy="0"/>
          </a:xfrm>
          <a:prstGeom prst="line">
            <a:avLst/>
          </a:prstGeom>
          <a:noFill/>
          <a:ln w="38100">
            <a:solidFill>
              <a:srgbClr val="2A5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3044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7" name="Image 0" descr="icons/check_1453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1363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82952" y="3044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1" name="Image 1" descr="icons/check_14532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392" y="31363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2692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88976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081272" y="3044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5" name="Image 2" descr="icons/check_14532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712" y="313639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2524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68808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879592" y="3044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9" name="Image 3" descr="icons/check_14532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313639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2356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677912" y="3044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3" name="Image 4" descr="icons/check_14532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352" y="313639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2188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28472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9476232" y="3044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7" name="Image 5" descr="icons/check_14532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672" y="313639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22020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908304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11274552" y="30449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1" name="Image 6" descr="icons/check_14532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5992" y="313639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01852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088136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640080" y="4343400"/>
            <a:ext cx="10881360" cy="1783080"/>
          </a:xfrm>
          <a:prstGeom prst="roundRect">
            <a:avLst>
              <a:gd name="adj" fmla="val 6154"/>
            </a:avLst>
          </a:prstGeom>
          <a:solidFill>
            <a:srgbClr val="123F31"/>
          </a:solidFill>
          <a:ln w="12700">
            <a:solidFill>
              <a:srgbClr val="2A5A44"/>
            </a:solidFill>
            <a:prstDash val="solid"/>
          </a:ln>
        </p:spPr>
      </p:sp>
      <p:pic>
        <p:nvPicPr>
          <p:cNvPr id="35" name="Image 7" descr="icons/lock_F59E0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663440"/>
            <a:ext cx="384048" cy="38404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50876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#3  —  APPLICATION APPROVED</a:t>
            </a:r>
            <a:endParaRPr lang="en-US" sz="1350" dirty="0"/>
          </a:p>
        </p:txBody>
      </p:sp>
      <p:sp>
        <p:nvSpPr>
          <p:cNvPr id="37" name="Text 27"/>
          <p:cNvSpPr/>
          <p:nvPr/>
        </p:nvSpPr>
        <p:spPr>
          <a:xfrm>
            <a:off x="1508760" y="49560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New &amp; Renewable Energy (MNRE) sanction quota allocated for this application.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1508760" y="53949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0x8f2a...c91e     Verifier: Node-02 (DISCOM Gateway)     Gas Used: 21,500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9692640" y="489204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F59E0B"/>
          </a:solidFill>
          <a:ln/>
        </p:spPr>
      </p:sp>
      <p:sp>
        <p:nvSpPr>
          <p:cNvPr id="40" name="Text 30"/>
          <p:cNvSpPr/>
          <p:nvPr/>
        </p:nvSpPr>
        <p:spPr>
          <a:xfrm>
            <a:off x="9692640" y="4892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 — Multilingual Assistant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assistant answers subsidy, cost and status questions in the applicant’s own language — by voice or 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pic>
        <p:nvPicPr>
          <p:cNvPr id="6" name="Image 0" descr="icons/calculator_F59E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4597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33172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1 kW solar cost?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044952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pic>
        <p:nvPicPr>
          <p:cNvPr id="9" name="Image 1" descr="icons/bolt_F59E0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729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04495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subsidy can I get?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758184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pic>
        <p:nvPicPr>
          <p:cNvPr id="12" name="Image 2" descr="icons/apply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8620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75818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documents are required?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0080" y="4471416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pic>
        <p:nvPicPr>
          <p:cNvPr id="15" name="Image 3" descr="icons/history_F59E0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59943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4714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my application status?</a:t>
            </a:r>
            <a:endParaRPr lang="en-US" sz="1150" dirty="0"/>
          </a:p>
        </p:txBody>
      </p:sp>
      <p:pic>
        <p:nvPicPr>
          <p:cNvPr id="17" name="Image 4" descr="icons/language_F59E0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25780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52303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తెలుగు · हिन्दी · தமிழ் · ಕನ್ನಡ · मराठी · বাংলা · ગુજરાતી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6949440" y="1691640"/>
            <a:ext cx="4206240" cy="4480560"/>
          </a:xfrm>
          <a:prstGeom prst="roundRect">
            <a:avLst>
              <a:gd name="adj" fmla="val 6522"/>
            </a:avLst>
          </a:prstGeom>
          <a:solidFill>
            <a:srgbClr val="0F3D2E"/>
          </a:solidFill>
          <a:ln/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745236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pic>
        <p:nvPicPr>
          <p:cNvPr id="21" name="Image 5" descr="icons/chatbot_14532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2313432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04672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SolarConnect Assistant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804672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తెలుగు • Online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7406640" y="292608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23F31"/>
          </a:solidFill>
          <a:ln/>
        </p:spPr>
      </p:sp>
      <p:sp>
        <p:nvSpPr>
          <p:cNvPr id="25" name="Text 17"/>
          <p:cNvSpPr/>
          <p:nvPr/>
        </p:nvSpPr>
        <p:spPr>
          <a:xfrm>
            <a:off x="7571232" y="300837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kW సೋలార్ ధరకు ఎంత ఖర్చు అవుతుంది?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7955280" y="3794760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/>
        </p:spPr>
      </p:sp>
      <p:sp>
        <p:nvSpPr>
          <p:cNvPr id="27" name="Text 19"/>
          <p:cNvSpPr/>
          <p:nvPr/>
        </p:nvSpPr>
        <p:spPr>
          <a:xfrm>
            <a:off x="8119872" y="38862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సగటుగా 1 kW వ್యవస్థ ₹55,000–65,000 వరకు ఉంటుంది. Central Subsidy → ₹30,000 వరకు వర్తిస్తుంది.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7406640" y="5257800"/>
            <a:ext cx="3200400" cy="566928"/>
          </a:xfrm>
          <a:prstGeom prst="roundRect">
            <a:avLst>
              <a:gd name="adj" fmla="val 50000"/>
            </a:avLst>
          </a:prstGeom>
          <a:solidFill>
            <a:srgbClr val="0B2E22"/>
          </a:solidFill>
          <a:ln w="12700">
            <a:solidFill>
              <a:srgbClr val="2A5A44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635240" y="5257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question...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7F5E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562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585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TypeScript, built with Vite for fast dev &amp; optimized bundles.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7F5E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562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2585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 for a responsive, mobile-first interface.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7F5E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8562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2585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 (server.ts) handling API routes &amp; data flow.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7F5E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021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90448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powers the multilingual chatbot &amp; document OCR extraction.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33375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7F5E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5021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90448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application, complaint &amp; ledger models in TypeScript.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33375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F7F5E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5021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390448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blockchain ledger — hashed, chained stage records per application.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114800" cy="4114800"/>
          </a:xfrm>
          <a:prstGeom prst="ellipse">
            <a:avLst/>
          </a:prstGeom>
          <a:solidFill>
            <a:srgbClr val="1453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23F31"/>
          </a:solidFill>
          <a:ln w="12700">
            <a:solidFill>
              <a:srgbClr val="2A5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32004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tracking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blockchain ledger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23F31"/>
          </a:solidFill>
          <a:ln w="12700">
            <a:solidFill>
              <a:srgbClr val="2A5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3317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75888" y="32004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AI chat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23F31"/>
          </a:solidFill>
          <a:ln w="12700">
            <a:solidFill>
              <a:srgbClr val="2A5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3317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~2.25 yrs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10528" y="32004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payback period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by calculator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0" y="20116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23F31"/>
          </a:solidFill>
          <a:ln w="12700">
            <a:solidFill>
              <a:srgbClr val="2A5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23317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345168" y="3200400"/>
            <a:ext cx="2203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availability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applicant queries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7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numbers: households get clarity on cost before committing, and regulators gain an auditable, tamper-evident trail of every subsidy disbursed.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pic>
        <p:nvPicPr>
          <p:cNvPr id="6" name="Image 0" descr="icons/blockchain_F59E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blockchain integration (e.g. Polygon) for public verifiability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35040" y="16916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pic>
        <p:nvPicPr>
          <p:cNvPr id="10" name="Image 1" descr="icons/mobile_F59E0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402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9202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with offline document capture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3375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14400" y="3749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pic>
        <p:nvPicPr>
          <p:cNvPr id="14" name="Image 2" descr="icons/chart_F59E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8862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DISCOM &amp; MNRE analytics dashboard for policy insights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35040" y="33375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09360" y="3749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pic>
        <p:nvPicPr>
          <p:cNvPr id="18" name="Image 3" descr="icons/leaf_F59E0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862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net-metering &amp; carbon credit tracking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E4E2D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5120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640080" y="5715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 — bringing clarity and trust to India’s rooftop solar journey.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SolarConnect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2026-08-08T05:38:23Z</dcterms:created>
  <dcterms:modified xsi:type="dcterms:W3CDTF">2026-08-08T05:38:23Z</dcterms:modified>
</cp:coreProperties>
</file>